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516" y="-4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5747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03120" y="-2377440"/>
            <a:ext cx="4754880" cy="4754880"/>
          </a:xfrm>
          <a:prstGeom prst="ellipse">
            <a:avLst/>
          </a:prstGeom>
          <a:solidFill>
            <a:srgbClr val="9B5C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737360"/>
            <a:ext cx="3108960" cy="3108960"/>
          </a:xfrm>
          <a:prstGeom prst="ellipse">
            <a:avLst/>
          </a:prstGeom>
          <a:solidFill>
            <a:srgbClr val="3FD5D0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262872" y="3749040"/>
            <a:ext cx="4572000" cy="4572000"/>
          </a:xfrm>
          <a:prstGeom prst="ellipse">
            <a:avLst/>
          </a:prstGeom>
          <a:solidFill>
            <a:srgbClr val="FF6B5A">
              <a:alpha val="11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268712" y="4846320"/>
            <a:ext cx="2743200" cy="2743200"/>
          </a:xfrm>
          <a:prstGeom prst="ellipse">
            <a:avLst/>
          </a:prstGeom>
          <a:solidFill>
            <a:srgbClr val="F5B942">
              <a:alpha val="13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0" y="2331720"/>
            <a:ext cx="121889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kern="0" spc="3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CHIPPER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0" y="338328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3FD5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 study planner that tells you the truth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0" y="4114800"/>
            <a:ext cx="12188952" cy="1854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by: </a:t>
            </a:r>
          </a:p>
          <a:p>
            <a:pPr marL="0" indent="0" algn="ctr">
              <a:buNone/>
            </a:pPr>
            <a:r>
              <a:rPr lang="en-US" sz="1600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Slytherin</a:t>
            </a:r>
          </a:p>
          <a:p>
            <a:pPr marL="0" indent="0" algn="ctr">
              <a:buNone/>
            </a:pPr>
            <a:r>
              <a:rPr lang="en-US" sz="1600" dirty="0">
                <a:solidFill>
                  <a:srgbClr val="C9C9C9"/>
                </a:solidFill>
                <a:latin typeface="Arial" pitchFamily="34" charset="0"/>
                <a:cs typeface="Arial" pitchFamily="34" charset="-120"/>
              </a:rPr>
              <a:t>Abhishek Kumar Singh</a:t>
            </a:r>
          </a:p>
          <a:p>
            <a:pPr marL="0" indent="0" algn="ctr">
              <a:buNone/>
            </a:pPr>
            <a:r>
              <a:rPr lang="en-US" sz="1600" dirty="0" err="1">
                <a:solidFill>
                  <a:srgbClr val="C9C9C9"/>
                </a:solidFill>
                <a:latin typeface="Arial" pitchFamily="34" charset="0"/>
                <a:cs typeface="Arial" pitchFamily="34" charset="-120"/>
              </a:rPr>
              <a:t>Darshnik</a:t>
            </a:r>
            <a:r>
              <a:rPr lang="en-US" sz="1600" dirty="0">
                <a:solidFill>
                  <a:srgbClr val="C9C9C9"/>
                </a:solidFill>
                <a:latin typeface="Arial" pitchFamily="34" charset="0"/>
                <a:cs typeface="Arial" pitchFamily="34" charset="-120"/>
              </a:rPr>
              <a:t> Karn</a:t>
            </a:r>
          </a:p>
          <a:p>
            <a:pPr marL="0" indent="0" algn="ctr">
              <a:buNone/>
            </a:pPr>
            <a:r>
              <a:rPr lang="en-US" sz="1600" dirty="0">
                <a:solidFill>
                  <a:srgbClr val="C9C9C9"/>
                </a:solidFill>
                <a:latin typeface="Arial" pitchFamily="34" charset="0"/>
                <a:cs typeface="Arial" pitchFamily="34" charset="-120"/>
              </a:rPr>
              <a:t>Satyam Kumar Singh</a:t>
            </a:r>
          </a:p>
          <a:p>
            <a:pPr marL="0" indent="0" algn="ctr">
              <a:buNone/>
            </a:pPr>
            <a:r>
              <a:rPr lang="en-US" sz="1600" dirty="0">
                <a:solidFill>
                  <a:srgbClr val="C9C9C9"/>
                </a:solidFill>
                <a:latin typeface="Arial" pitchFamily="34" charset="0"/>
                <a:cs typeface="Arial" pitchFamily="34" charset="-120"/>
              </a:rPr>
              <a:t>Achyut Roy</a:t>
            </a:r>
          </a:p>
          <a:p>
            <a:pPr marL="0" indent="0" algn="ctr">
              <a:buNone/>
            </a:pPr>
            <a:r>
              <a:rPr lang="en-US" sz="1600" dirty="0">
                <a:solidFill>
                  <a:srgbClr val="C9C9C9"/>
                </a:solidFill>
                <a:latin typeface="Arial" pitchFamily="34" charset="0"/>
                <a:cs typeface="Arial" pitchFamily="34" charset="-120"/>
              </a:rPr>
              <a:t>Adarsh Kumar Sharma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03120" y="-2377440"/>
            <a:ext cx="4754880" cy="4754880"/>
          </a:xfrm>
          <a:prstGeom prst="ellipse">
            <a:avLst/>
          </a:prstGeom>
          <a:solidFill>
            <a:srgbClr val="9B5C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737360"/>
            <a:ext cx="3108960" cy="3108960"/>
          </a:xfrm>
          <a:prstGeom prst="ellipse">
            <a:avLst/>
          </a:prstGeom>
          <a:solidFill>
            <a:srgbClr val="3FD5D0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262872" y="3749040"/>
            <a:ext cx="4572000" cy="4572000"/>
          </a:xfrm>
          <a:prstGeom prst="ellipse">
            <a:avLst/>
          </a:prstGeom>
          <a:solidFill>
            <a:srgbClr val="FF6B5A">
              <a:alpha val="11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268712" y="4846320"/>
            <a:ext cx="2743200" cy="2743200"/>
          </a:xfrm>
          <a:prstGeom prst="ellipse">
            <a:avLst/>
          </a:prstGeom>
          <a:solidFill>
            <a:srgbClr val="F5B942">
              <a:alpha val="13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502920"/>
            <a:ext cx="109087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Proposed Solution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22960" y="1737360"/>
            <a:ext cx="10451592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9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Description: 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ingests syllabi, deadlines, attendance rules and exam dates from a dozen scattered sources and produces one weekly plan that fits students' actual free time — rebuilt automatically as deadlines or progress change.</a:t>
            </a:r>
            <a:r>
              <a:rPr lang="en-US" sz="1500" b="1" dirty="0">
                <a:solidFill>
                  <a:srgbClr val="9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Addresses the problem: 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planners quietly drop work or spread it thinner when a week doesn't fit; Chipper computes whether a feasible schedule exists at all, and says so when it doesn't.</a:t>
            </a:r>
            <a:r>
              <a:rPr lang="en-US" sz="1500" b="1" dirty="0">
                <a:solidFill>
                  <a:srgbClr val="9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features: 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scheduling engine, explainable score breakdown (Why? panel), provenance-checked syllabus parsing, feasibility triage, and a feedback loop that learns from rejected suggestions.</a:t>
            </a:r>
            <a:r>
              <a:rPr lang="en-US" sz="1500" b="1" dirty="0">
                <a:solidFill>
                  <a:srgbClr val="9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users: 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juggling multiple courses, deadlines, and irregular class schedules.</a:t>
            </a:r>
            <a:r>
              <a:rPr lang="en-US" sz="1500" b="1" dirty="0">
                <a:solidFill>
                  <a:srgbClr val="9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Workflow: 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 → dual-extractor parsing → deterministic placement + feasibility check → triage if infeasible → user accepts/rejects → bias update → replan.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03120" y="-2377440"/>
            <a:ext cx="4754880" cy="4754880"/>
          </a:xfrm>
          <a:prstGeom prst="ellipse">
            <a:avLst/>
          </a:prstGeom>
          <a:solidFill>
            <a:srgbClr val="9B5C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737360"/>
            <a:ext cx="3108960" cy="3108960"/>
          </a:xfrm>
          <a:prstGeom prst="ellipse">
            <a:avLst/>
          </a:prstGeom>
          <a:solidFill>
            <a:srgbClr val="3FD5D0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262872" y="3749040"/>
            <a:ext cx="4572000" cy="4572000"/>
          </a:xfrm>
          <a:prstGeom prst="ellipse">
            <a:avLst/>
          </a:prstGeom>
          <a:solidFill>
            <a:srgbClr val="FF6B5A">
              <a:alpha val="11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268712" y="4846320"/>
            <a:ext cx="2743200" cy="2743200"/>
          </a:xfrm>
          <a:prstGeom prst="ellipse">
            <a:avLst/>
          </a:prstGeom>
          <a:solidFill>
            <a:srgbClr val="F5B942">
              <a:alpha val="13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84048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STRATEGY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713232"/>
            <a:ext cx="109087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Technologies / Tools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822960" y="1828800"/>
            <a:ext cx="10543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Languages:  </a:t>
            </a: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Python, JavaScript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395728"/>
            <a:ext cx="10543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Frontend:  </a:t>
            </a: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18, Vite, Tailwind, Recharts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962656"/>
            <a:ext cx="10543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Backend:  </a:t>
            </a: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FastAPI, SQLAlchemy 2.0, Pydantic v2, JWT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3529584"/>
            <a:ext cx="10543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AI/ML:  </a:t>
            </a: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Gemini — parsing &amp; narration only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4096512"/>
            <a:ext cx="10543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Database:  </a:t>
            </a: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/ SQLite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4663440"/>
            <a:ext cx="10543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Other:  </a:t>
            </a: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· Render · Vercel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5367528"/>
            <a:ext cx="1054303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450" b="1" dirty="0">
                <a:solidFill>
                  <a:srgbClr val="3FD5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 description: </a:t>
            </a:r>
            <a:r>
              <a:rPr 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scheduling engine is pure Python with no network calls — every placement and feasibility decision is deterministic. Gemini is used only where language understanding is required (reading messy syllabi) and its output is cross-checked against a regex/dateutil parser before it's trusted.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03120" y="-2377440"/>
            <a:ext cx="4754880" cy="4754880"/>
          </a:xfrm>
          <a:prstGeom prst="ellipse">
            <a:avLst/>
          </a:prstGeom>
          <a:solidFill>
            <a:srgbClr val="9B5C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737360"/>
            <a:ext cx="3108960" cy="3108960"/>
          </a:xfrm>
          <a:prstGeom prst="ellipse">
            <a:avLst/>
          </a:prstGeom>
          <a:solidFill>
            <a:srgbClr val="3FD5D0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262872" y="3749040"/>
            <a:ext cx="4572000" cy="4572000"/>
          </a:xfrm>
          <a:prstGeom prst="ellipse">
            <a:avLst/>
          </a:prstGeom>
          <a:solidFill>
            <a:srgbClr val="FF6B5A">
              <a:alpha val="11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268712" y="4846320"/>
            <a:ext cx="2743200" cy="2743200"/>
          </a:xfrm>
          <a:prstGeom prst="ellipse">
            <a:avLst/>
          </a:prstGeom>
          <a:solidFill>
            <a:srgbClr val="F5B942">
              <a:alpha val="13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84048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STRATEGY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713232"/>
            <a:ext cx="109087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Methodology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822960" y="1737360"/>
            <a:ext cx="10451592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●"/>
            </a:pPr>
            <a:r>
              <a:rPr lang="en-US" sz="1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core: scheduler.py never touches the network and is covered by 19 unit tests — placement and feasibility can't be hallucinated away.</a:t>
            </a:r>
            <a:endParaRPr lang="en-US" sz="15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●"/>
            </a:pPr>
            <a:r>
              <a:rPr lang="en-US" sz="1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Chronological greedy placement using a weighted multi-factor score (deadline pressure, grade impact, user priority, energy match, neglect, spacing) — weights are user-editable and returned with every plan.</a:t>
            </a:r>
            <a:endParaRPr lang="en-US" sz="15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●"/>
            </a:pPr>
            <a:r>
              <a:rPr lang="en-US" sz="1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 computed analytically via the single-machine feasibility theorem (Jackson's rule), not a heuristic guess — usable capacity is derived from real constraints, not raw free time.</a:t>
            </a:r>
            <a:endParaRPr lang="en-US" sz="15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●"/>
            </a:pPr>
            <a:r>
              <a:rPr lang="en-US" sz="1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Hallucination defenses on ingestion: evidence-substring requirement, corroboration against verbatim source dates, confidence capping, and merge-back of items the LLM missed.</a:t>
            </a:r>
            <a:endParaRPr lang="en-US" sz="15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●"/>
            </a:pPr>
            <a:r>
              <a:rPr lang="en-US" sz="1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loop: a bounded exponential-decay bias updates on each rejection, so sustained dislikes reshape the plan while genuinely urgent tasks can still override them.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03120" y="-2377440"/>
            <a:ext cx="4754880" cy="4754880"/>
          </a:xfrm>
          <a:prstGeom prst="ellipse">
            <a:avLst/>
          </a:prstGeom>
          <a:solidFill>
            <a:srgbClr val="9B5C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737360"/>
            <a:ext cx="3108960" cy="3108960"/>
          </a:xfrm>
          <a:prstGeom prst="ellipse">
            <a:avLst/>
          </a:prstGeom>
          <a:solidFill>
            <a:srgbClr val="3FD5D0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262872" y="3749040"/>
            <a:ext cx="4572000" cy="4572000"/>
          </a:xfrm>
          <a:prstGeom prst="ellipse">
            <a:avLst/>
          </a:prstGeom>
          <a:solidFill>
            <a:srgbClr val="FF6B5A">
              <a:alpha val="11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268712" y="4846320"/>
            <a:ext cx="2743200" cy="2743200"/>
          </a:xfrm>
          <a:prstGeom prst="ellipse">
            <a:avLst/>
          </a:prstGeom>
          <a:solidFill>
            <a:srgbClr val="F5B942">
              <a:alpha val="13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84048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STRATEGY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713232"/>
            <a:ext cx="109087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Implementation Process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379476" y="2880360"/>
            <a:ext cx="1691640" cy="1051560"/>
          </a:xfrm>
          <a:prstGeom prst="roundRect">
            <a:avLst>
              <a:gd name="adj" fmla="val 10435"/>
            </a:avLst>
          </a:prstGeom>
          <a:solidFill>
            <a:srgbClr val="141414"/>
          </a:solidFill>
          <a:ln w="19050">
            <a:solidFill>
              <a:srgbClr val="9B5CF6"/>
            </a:solidFill>
            <a:prstDash val="solid"/>
          </a:ln>
          <a:effectLst>
            <a:outerShdw blurRad="76200" dist="254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9476" y="2880360"/>
            <a:ext cx="1691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</a:t>
            </a:r>
            <a:endParaRPr lang="en-US" sz="11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(text / file)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089404" y="3323844"/>
            <a:ext cx="219456" cy="164592"/>
          </a:xfrm>
          <a:prstGeom prst="rightArrow">
            <a:avLst/>
          </a:prstGeom>
          <a:solidFill>
            <a:srgbClr val="C9C9C9"/>
          </a:solidFill>
          <a:ln/>
        </p:spPr>
      </p:sp>
      <p:sp>
        <p:nvSpPr>
          <p:cNvPr id="11" name="Shape 9"/>
          <p:cNvSpPr/>
          <p:nvPr/>
        </p:nvSpPr>
        <p:spPr>
          <a:xfrm>
            <a:off x="2327148" y="2880360"/>
            <a:ext cx="1691640" cy="1051560"/>
          </a:xfrm>
          <a:prstGeom prst="roundRect">
            <a:avLst>
              <a:gd name="adj" fmla="val 10435"/>
            </a:avLst>
          </a:prstGeom>
          <a:solidFill>
            <a:srgbClr val="141414"/>
          </a:solidFill>
          <a:ln w="19050">
            <a:solidFill>
              <a:srgbClr val="3FD5D0"/>
            </a:solidFill>
            <a:prstDash val="solid"/>
          </a:ln>
          <a:effectLst>
            <a:outerShdw blurRad="76200" dist="254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327148" y="2880360"/>
            <a:ext cx="1691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Extraction</a:t>
            </a:r>
            <a:endParaRPr lang="en-US" sz="11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(Gemini + regex)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037076" y="3323844"/>
            <a:ext cx="219456" cy="164592"/>
          </a:xfrm>
          <a:prstGeom prst="rightArrow">
            <a:avLst/>
          </a:prstGeom>
          <a:solidFill>
            <a:srgbClr val="C9C9C9"/>
          </a:solidFill>
          <a:ln/>
        </p:spPr>
      </p:sp>
      <p:sp>
        <p:nvSpPr>
          <p:cNvPr id="14" name="Shape 12"/>
          <p:cNvSpPr/>
          <p:nvPr/>
        </p:nvSpPr>
        <p:spPr>
          <a:xfrm>
            <a:off x="4274820" y="2880360"/>
            <a:ext cx="1691640" cy="1051560"/>
          </a:xfrm>
          <a:prstGeom prst="roundRect">
            <a:avLst>
              <a:gd name="adj" fmla="val 10435"/>
            </a:avLst>
          </a:prstGeom>
          <a:solidFill>
            <a:srgbClr val="141414"/>
          </a:solidFill>
          <a:ln w="19050">
            <a:solidFill>
              <a:srgbClr val="F5B942"/>
            </a:solidFill>
            <a:prstDash val="solid"/>
          </a:ln>
          <a:effectLst>
            <a:outerShdw blurRad="76200" dist="254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274820" y="2880360"/>
            <a:ext cx="1691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 &amp;</a:t>
            </a:r>
            <a:endParaRPr lang="en-US" sz="11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Provenance Check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84748" y="3323844"/>
            <a:ext cx="219456" cy="164592"/>
          </a:xfrm>
          <a:prstGeom prst="rightArrow">
            <a:avLst/>
          </a:prstGeom>
          <a:solidFill>
            <a:srgbClr val="C9C9C9"/>
          </a:solidFill>
          <a:ln/>
        </p:spPr>
      </p:sp>
      <p:sp>
        <p:nvSpPr>
          <p:cNvPr id="17" name="Shape 15"/>
          <p:cNvSpPr/>
          <p:nvPr/>
        </p:nvSpPr>
        <p:spPr>
          <a:xfrm>
            <a:off x="6222492" y="2880360"/>
            <a:ext cx="1691640" cy="1051560"/>
          </a:xfrm>
          <a:prstGeom prst="roundRect">
            <a:avLst>
              <a:gd name="adj" fmla="val 10435"/>
            </a:avLst>
          </a:prstGeom>
          <a:solidFill>
            <a:srgbClr val="141414"/>
          </a:solidFill>
          <a:ln w="19050">
            <a:solidFill>
              <a:srgbClr val="FF6B5A"/>
            </a:solidFill>
            <a:prstDash val="solid"/>
          </a:ln>
          <a:effectLst>
            <a:outerShdw blurRad="76200" dist="254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22492" y="2880360"/>
            <a:ext cx="1691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</a:t>
            </a:r>
            <a:endParaRPr lang="en-US" sz="11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Scheduler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932420" y="3323844"/>
            <a:ext cx="219456" cy="164592"/>
          </a:xfrm>
          <a:prstGeom prst="rightArrow">
            <a:avLst/>
          </a:prstGeom>
          <a:solidFill>
            <a:srgbClr val="C9C9C9"/>
          </a:solidFill>
          <a:ln/>
        </p:spPr>
      </p:sp>
      <p:sp>
        <p:nvSpPr>
          <p:cNvPr id="20" name="Shape 18"/>
          <p:cNvSpPr/>
          <p:nvPr/>
        </p:nvSpPr>
        <p:spPr>
          <a:xfrm>
            <a:off x="8170164" y="2880360"/>
            <a:ext cx="1691640" cy="1051560"/>
          </a:xfrm>
          <a:prstGeom prst="roundRect">
            <a:avLst>
              <a:gd name="adj" fmla="val 10435"/>
            </a:avLst>
          </a:prstGeom>
          <a:solidFill>
            <a:srgbClr val="141414"/>
          </a:solidFill>
          <a:ln w="19050">
            <a:solidFill>
              <a:srgbClr val="9B5CF6"/>
            </a:solidFill>
            <a:prstDash val="solid"/>
          </a:ln>
          <a:effectLst>
            <a:outerShdw blurRad="76200" dist="254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170164" y="2880360"/>
            <a:ext cx="1691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+</a:t>
            </a:r>
            <a:endParaRPr lang="en-US" sz="11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Why? Explain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880092" y="3323844"/>
            <a:ext cx="219456" cy="164592"/>
          </a:xfrm>
          <a:prstGeom prst="rightArrow">
            <a:avLst/>
          </a:prstGeom>
          <a:solidFill>
            <a:srgbClr val="C9C9C9"/>
          </a:solidFill>
          <a:ln/>
        </p:spPr>
      </p:sp>
      <p:sp>
        <p:nvSpPr>
          <p:cNvPr id="23" name="Shape 21"/>
          <p:cNvSpPr/>
          <p:nvPr/>
        </p:nvSpPr>
        <p:spPr>
          <a:xfrm>
            <a:off x="10117836" y="2880360"/>
            <a:ext cx="1691640" cy="1051560"/>
          </a:xfrm>
          <a:prstGeom prst="roundRect">
            <a:avLst>
              <a:gd name="adj" fmla="val 10435"/>
            </a:avLst>
          </a:prstGeom>
          <a:solidFill>
            <a:srgbClr val="141414"/>
          </a:solidFill>
          <a:ln w="19050">
            <a:solidFill>
              <a:srgbClr val="3FD5D0"/>
            </a:solidFill>
            <a:prstDash val="solid"/>
          </a:ln>
          <a:effectLst>
            <a:outerShdw blurRad="76200" dist="254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0117836" y="2880360"/>
            <a:ext cx="1691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 / Reject</a:t>
            </a:r>
            <a:endParaRPr lang="en-US" sz="11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(feedback bias)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22960" y="4389120"/>
            <a:ext cx="10543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Rejecting a suggestion feeds the bias term back into step 4, closing the loop on the next replan.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03120" y="-2377440"/>
            <a:ext cx="4754880" cy="4754880"/>
          </a:xfrm>
          <a:prstGeom prst="ellipse">
            <a:avLst/>
          </a:prstGeom>
          <a:solidFill>
            <a:srgbClr val="9B5C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737360"/>
            <a:ext cx="3108960" cy="3108960"/>
          </a:xfrm>
          <a:prstGeom prst="ellipse">
            <a:avLst/>
          </a:prstGeom>
          <a:solidFill>
            <a:srgbClr val="3FD5D0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262872" y="3749040"/>
            <a:ext cx="4572000" cy="4572000"/>
          </a:xfrm>
          <a:prstGeom prst="ellipse">
            <a:avLst/>
          </a:prstGeom>
          <a:solidFill>
            <a:srgbClr val="FF6B5A">
              <a:alpha val="11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268712" y="4846320"/>
            <a:ext cx="2743200" cy="2743200"/>
          </a:xfrm>
          <a:prstGeom prst="ellipse">
            <a:avLst/>
          </a:prstGeom>
          <a:solidFill>
            <a:srgbClr val="F5B942">
              <a:alpha val="13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84048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 AND VIABILITY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713232"/>
            <a:ext cx="109087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Feasibility Analysis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822960" y="1737360"/>
            <a:ext cx="10451592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550" b="1" dirty="0">
                <a:solidFill>
                  <a:srgbClr val="9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it be realistically built? </a:t>
            </a:r>
            <a:endParaRPr lang="en-US" sz="1550" dirty="0"/>
          </a:p>
          <a:p>
            <a:pPr marL="342900" indent="-342900">
              <a:lnSpc>
                <a:spcPct val="150000"/>
              </a:lnSpc>
              <a:spcAft>
                <a:spcPts val="1200"/>
              </a:spcAft>
              <a:buSzPct val="100000"/>
              <a:buChar char="●"/>
            </a:pPr>
            <a:r>
              <a:rPr lang="en-US" sz="1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— every scheduling decision is classic operations research (single-machine feasibility, greedy dispatch, fractional knapsack triage), none of it depends on an LLM.</a:t>
            </a:r>
            <a:r>
              <a:rPr lang="en-US" sz="1550" b="1" dirty="0">
                <a:solidFill>
                  <a:srgbClr val="9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 required: </a:t>
            </a:r>
            <a:endParaRPr lang="en-US" sz="1550" dirty="0"/>
          </a:p>
          <a:p>
            <a:pPr marL="342900" indent="-342900">
              <a:lnSpc>
                <a:spcPct val="150000"/>
              </a:lnSpc>
              <a:spcAft>
                <a:spcPts val="1200"/>
              </a:spcAft>
              <a:buSzPct val="100000"/>
              <a:buChar char="●"/>
            </a:pPr>
            <a:r>
              <a:rPr lang="en-US" sz="1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Python/FastAPI backend, Postgres or SQLite, a React/Vite frontend, and an optional Gemini API key — all deployable on free tiers (Render + Vercel).</a:t>
            </a:r>
            <a:r>
              <a:rPr lang="en-US" sz="1550" b="1" dirty="0">
                <a:solidFill>
                  <a:srgbClr val="9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it's practical: </a:t>
            </a:r>
            <a:endParaRPr lang="en-US" sz="155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 degrades gracefully without the LLM — the deterministic engine and rule-based parser still produce a full plan. 33 offline tests plus a ~70-assertion end-to-end suite validate correctness without any network dependency.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03120" y="-2377440"/>
            <a:ext cx="4754880" cy="4754880"/>
          </a:xfrm>
          <a:prstGeom prst="ellipse">
            <a:avLst/>
          </a:prstGeom>
          <a:solidFill>
            <a:srgbClr val="9B5C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737360"/>
            <a:ext cx="3108960" cy="3108960"/>
          </a:xfrm>
          <a:prstGeom prst="ellipse">
            <a:avLst/>
          </a:prstGeom>
          <a:solidFill>
            <a:srgbClr val="3FD5D0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262872" y="3749040"/>
            <a:ext cx="4572000" cy="4572000"/>
          </a:xfrm>
          <a:prstGeom prst="ellipse">
            <a:avLst/>
          </a:prstGeom>
          <a:solidFill>
            <a:srgbClr val="FF6B5A">
              <a:alpha val="11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268712" y="4846320"/>
            <a:ext cx="2743200" cy="2743200"/>
          </a:xfrm>
          <a:prstGeom prst="ellipse">
            <a:avLst/>
          </a:prstGeom>
          <a:solidFill>
            <a:srgbClr val="F5B942">
              <a:alpha val="13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84048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 AND VIABILITY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713232"/>
            <a:ext cx="109087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Strategies to Overcome Challenges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822960" y="1737360"/>
            <a:ext cx="10451592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●"/>
            </a:pPr>
            <a:r>
              <a:rPr lang="en-US" sz="1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actions: dual-extractor parsing (LLM + regex/dateutil) catches what either method misses on its own, with an explicit evidence/corroboration check against hallucinated dates.</a:t>
            </a:r>
            <a:endParaRPr lang="en-US" sz="15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●"/>
            </a:pPr>
            <a:r>
              <a:rPr lang="en-US" sz="1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mitigation: the deterministic engine is fully isolated from the LLM, so a bad API response can't corrupt scheduling; llm_client.py is written to never raise, so failures degrade rather than crash.</a:t>
            </a:r>
            <a:endParaRPr lang="en-US" sz="15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●"/>
            </a:pPr>
            <a:r>
              <a:rPr lang="en-US" sz="1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plans: without a Gemini key, the rule-based parser and deterministic scheduler still produce a complete, correct plan — only the LLM-written strategy notes are lost.</a:t>
            </a:r>
            <a:endParaRPr lang="en-US" sz="15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●"/>
            </a:pPr>
            <a:r>
              <a:rPr lang="en-US" sz="1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Successful execution: cold-start mitigated with a health-check ping before demos, ephemeral SQLite auto-reseeds on redeploy, and configuration is limited to two environment variables (VITE_API_URL, DATABASE_URL).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03120" y="-2377440"/>
            <a:ext cx="4754880" cy="4754880"/>
          </a:xfrm>
          <a:prstGeom prst="ellipse">
            <a:avLst/>
          </a:prstGeom>
          <a:solidFill>
            <a:srgbClr val="9B5C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737360"/>
            <a:ext cx="3108960" cy="3108960"/>
          </a:xfrm>
          <a:prstGeom prst="ellipse">
            <a:avLst/>
          </a:prstGeom>
          <a:solidFill>
            <a:srgbClr val="3FD5D0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262872" y="3749040"/>
            <a:ext cx="4572000" cy="4572000"/>
          </a:xfrm>
          <a:prstGeom prst="ellipse">
            <a:avLst/>
          </a:prstGeom>
          <a:solidFill>
            <a:srgbClr val="FF6B5A">
              <a:alpha val="11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268712" y="4846320"/>
            <a:ext cx="2743200" cy="2743200"/>
          </a:xfrm>
          <a:prstGeom prst="ellipse">
            <a:avLst/>
          </a:prstGeom>
          <a:solidFill>
            <a:srgbClr val="F5B942">
              <a:alpha val="13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502920"/>
            <a:ext cx="109087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Impact and Benefits Envisaged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22960" y="1737360"/>
            <a:ext cx="10451592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●"/>
            </a:pPr>
            <a:r>
              <a:rPr lang="en-US" sz="1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impact: students get an honest, feasible weekly plan instead of an overcommitted one they quietly abandon mid-week.</a:t>
            </a:r>
            <a:endParaRPr lang="en-US" sz="15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●"/>
            </a:pPr>
            <a:r>
              <a:rPr lang="en-US" sz="1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benefits: transparency (every study block's score is explainable down to the arithmetic), and trust — the numbers behind a plan aren't invented after the fact.</a:t>
            </a:r>
            <a:endParaRPr lang="en-US" sz="15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●"/>
            </a:pPr>
            <a:r>
              <a:rPr lang="en-US" sz="1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Efficiency, accessibility, cost: deterministic replanning is fast, the product works fully offline of the LLM, and free-tier hosting keeps cost near zero.</a:t>
            </a:r>
            <a:endParaRPr lang="en-US" sz="15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●"/>
            </a:pPr>
            <a:r>
              <a:rPr lang="en-US" sz="1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Long-term value and scalability: the deterministic core can absorb more sophisticated scheduling heuristics without touching the LLM layer, and the provenance-checked ingestion pipeline generalises beyond syllabi to any deadline-bearing document.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03120" y="-2377440"/>
            <a:ext cx="4754880" cy="4754880"/>
          </a:xfrm>
          <a:prstGeom prst="ellipse">
            <a:avLst/>
          </a:prstGeom>
          <a:solidFill>
            <a:srgbClr val="9B5C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737360"/>
            <a:ext cx="3108960" cy="3108960"/>
          </a:xfrm>
          <a:prstGeom prst="ellipse">
            <a:avLst/>
          </a:prstGeom>
          <a:solidFill>
            <a:srgbClr val="3FD5D0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262872" y="3749040"/>
            <a:ext cx="4572000" cy="4572000"/>
          </a:xfrm>
          <a:prstGeom prst="ellipse">
            <a:avLst/>
          </a:prstGeom>
          <a:solidFill>
            <a:srgbClr val="FF6B5A">
              <a:alpha val="11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268712" y="4846320"/>
            <a:ext cx="2743200" cy="2743200"/>
          </a:xfrm>
          <a:prstGeom prst="ellipse">
            <a:avLst/>
          </a:prstGeom>
          <a:solidFill>
            <a:srgbClr val="F5B942">
              <a:alpha val="13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502920"/>
            <a:ext cx="109087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Why This Idea May Fail?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22960" y="1737360"/>
            <a:ext cx="10451592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Framing risk: telling a student their week is infeasible could land as discouraging rather than helpful if the triage suggestions aren't presented constructively.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Adoption risk: students used to planners that quietly under-promise may not immediately trust — or may resist — a tool that says 'no' out loud.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risk: free-tier hosting (Render cold starts, ephemeral disk) can hurt first impressions in a live demo or early real-world use.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Modeling risk: chronological greedy placement with hand-tuned weights may not generalise as well as a full optimisation solver once course loads and dependencies get more complex.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risk: plan quality depends on syllabi being machine-readable; unusually messy or scanned documents could still slip past the dual-extractor safeguards.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03120" y="-2377440"/>
            <a:ext cx="4754880" cy="4754880"/>
          </a:xfrm>
          <a:prstGeom prst="ellipse">
            <a:avLst/>
          </a:prstGeom>
          <a:solidFill>
            <a:srgbClr val="9B5C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737360"/>
            <a:ext cx="3108960" cy="3108960"/>
          </a:xfrm>
          <a:prstGeom prst="ellipse">
            <a:avLst/>
          </a:prstGeom>
          <a:solidFill>
            <a:srgbClr val="3FD5D0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262872" y="3749040"/>
            <a:ext cx="4572000" cy="4572000"/>
          </a:xfrm>
          <a:prstGeom prst="ellipse">
            <a:avLst/>
          </a:prstGeom>
          <a:solidFill>
            <a:srgbClr val="FF6B5A">
              <a:alpha val="11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268712" y="4846320"/>
            <a:ext cx="2743200" cy="2743200"/>
          </a:xfrm>
          <a:prstGeom prst="ellipse">
            <a:avLst/>
          </a:prstGeom>
          <a:solidFill>
            <a:srgbClr val="F5B942">
              <a:alpha val="13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502920"/>
            <a:ext cx="109087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22960" y="1737360"/>
            <a:ext cx="10451592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9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Paper: 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Jackson's rule / single-machine feasibility theorem for scheduling with deadlines (classical scheduling theory).</a:t>
            </a:r>
            <a:r>
              <a:rPr lang="en-US" sz="1600" b="1" dirty="0">
                <a:solidFill>
                  <a:srgbClr val="9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Documentation: 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FastAPI, SQLAlchemy 2.0, and React 18 official documentation.</a:t>
            </a:r>
            <a:r>
              <a:rPr lang="en-US" sz="1600" b="1" dirty="0">
                <a:solidFill>
                  <a:srgbClr val="9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resources: 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Gemini API documentation; project README, Team Slytherin.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03120" y="-2377440"/>
            <a:ext cx="4754880" cy="4754880"/>
          </a:xfrm>
          <a:prstGeom prst="ellipse">
            <a:avLst/>
          </a:prstGeom>
          <a:solidFill>
            <a:srgbClr val="9B5C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737360"/>
            <a:ext cx="3108960" cy="3108960"/>
          </a:xfrm>
          <a:prstGeom prst="ellipse">
            <a:avLst/>
          </a:prstGeom>
          <a:solidFill>
            <a:srgbClr val="3FD5D0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262872" y="3749040"/>
            <a:ext cx="4572000" cy="4572000"/>
          </a:xfrm>
          <a:prstGeom prst="ellipse">
            <a:avLst/>
          </a:prstGeom>
          <a:solidFill>
            <a:srgbClr val="FF6B5A">
              <a:alpha val="11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268712" y="4846320"/>
            <a:ext cx="2743200" cy="2743200"/>
          </a:xfrm>
          <a:prstGeom prst="ellipse">
            <a:avLst/>
          </a:prstGeom>
          <a:solidFill>
            <a:srgbClr val="F5B942">
              <a:alpha val="13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0" y="2651760"/>
            <a:ext cx="121889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kern="0" spc="3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0" y="370332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3FD5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Slytherin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1059</Words>
  <Application>Microsoft Office PowerPoint</Application>
  <PresentationFormat>Widescreen</PresentationFormat>
  <Paragraphs>88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Century Gothic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Abhishek Kumar</cp:lastModifiedBy>
  <cp:revision>2</cp:revision>
  <dcterms:created xsi:type="dcterms:W3CDTF">2026-07-31T00:09:31Z</dcterms:created>
  <dcterms:modified xsi:type="dcterms:W3CDTF">2026-07-31T00:15:39Z</dcterms:modified>
</cp:coreProperties>
</file>